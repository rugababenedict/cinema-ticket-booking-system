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FAE80030-DAE3-4AFA-815B-CD1F1D712BBC}" type="datetimeFigureOut">
              <a:rPr lang="en-150" smtClean="0"/>
              <a:t>26/05/2026</a:t>
            </a:fld>
            <a:endParaRPr lang="en-150"/>
          </a:p>
        </p:txBody>
      </p:sp>
      <p:sp>
        <p:nvSpPr>
          <p:cNvPr id="5" name="Footer Placeholder 4"/>
          <p:cNvSpPr>
            <a:spLocks noGrp="1"/>
          </p:cNvSpPr>
          <p:nvPr>
            <p:ph type="ftr" sz="quarter" idx="11"/>
          </p:nvPr>
        </p:nvSpPr>
        <p:spPr>
          <a:xfrm>
            <a:off x="1876424" y="5410201"/>
            <a:ext cx="5124886" cy="365125"/>
          </a:xfrm>
        </p:spPr>
        <p:txBody>
          <a:bodyPr/>
          <a:lstStyle/>
          <a:p>
            <a:endParaRPr lang="en-150"/>
          </a:p>
        </p:txBody>
      </p:sp>
      <p:sp>
        <p:nvSpPr>
          <p:cNvPr id="6" name="Slide Number Placeholder 5"/>
          <p:cNvSpPr>
            <a:spLocks noGrp="1"/>
          </p:cNvSpPr>
          <p:nvPr>
            <p:ph type="sldNum" sz="quarter" idx="12"/>
          </p:nvPr>
        </p:nvSpPr>
        <p:spPr>
          <a:xfrm>
            <a:off x="9896911" y="5410199"/>
            <a:ext cx="771089" cy="365125"/>
          </a:xfrm>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60476207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80030-DAE3-4AFA-815B-CD1F1D712BBC}" type="datetimeFigureOut">
              <a:rPr lang="en-150" smtClean="0"/>
              <a:t>26/05/2026</a:t>
            </a:fld>
            <a:endParaRPr lang="en-150"/>
          </a:p>
        </p:txBody>
      </p:sp>
      <p:sp>
        <p:nvSpPr>
          <p:cNvPr id="5" name="Footer Placeholder 4"/>
          <p:cNvSpPr>
            <a:spLocks noGrp="1"/>
          </p:cNvSpPr>
          <p:nvPr>
            <p:ph type="ftr" sz="quarter" idx="11"/>
          </p:nvPr>
        </p:nvSpPr>
        <p:spPr/>
        <p:txBody>
          <a:bodyPr/>
          <a:lstStyle/>
          <a:p>
            <a:endParaRPr lang="en-150"/>
          </a:p>
        </p:txBody>
      </p:sp>
      <p:sp>
        <p:nvSpPr>
          <p:cNvPr id="6" name="Slide Number Placeholder 5"/>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86721972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80030-DAE3-4AFA-815B-CD1F1D712BBC}" type="datetimeFigureOut">
              <a:rPr lang="en-150" smtClean="0"/>
              <a:t>26/05/2026</a:t>
            </a:fld>
            <a:endParaRPr lang="en-150"/>
          </a:p>
        </p:txBody>
      </p:sp>
      <p:sp>
        <p:nvSpPr>
          <p:cNvPr id="5" name="Footer Placeholder 4"/>
          <p:cNvSpPr>
            <a:spLocks noGrp="1"/>
          </p:cNvSpPr>
          <p:nvPr>
            <p:ph type="ftr" sz="quarter" idx="11"/>
          </p:nvPr>
        </p:nvSpPr>
        <p:spPr/>
        <p:txBody>
          <a:bodyPr/>
          <a:lstStyle/>
          <a:p>
            <a:endParaRPr lang="en-150"/>
          </a:p>
        </p:txBody>
      </p:sp>
      <p:sp>
        <p:nvSpPr>
          <p:cNvPr id="6" name="Slide Number Placeholder 5"/>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173317037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56404003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E80030-DAE3-4AFA-815B-CD1F1D712BBC}" type="datetimeFigureOut">
              <a:rPr lang="en-150" smtClean="0"/>
              <a:t>26/05/2026</a:t>
            </a:fld>
            <a:endParaRPr lang="en-150"/>
          </a:p>
        </p:txBody>
      </p:sp>
      <p:sp>
        <p:nvSpPr>
          <p:cNvPr id="8" name="Footer Placeholder 7"/>
          <p:cNvSpPr>
            <a:spLocks noGrp="1"/>
          </p:cNvSpPr>
          <p:nvPr>
            <p:ph type="ftr" sz="quarter" idx="11"/>
          </p:nvPr>
        </p:nvSpPr>
        <p:spPr/>
        <p:txBody>
          <a:bodyPr/>
          <a:lstStyle/>
          <a:p>
            <a:endParaRPr lang="en-150"/>
          </a:p>
        </p:txBody>
      </p:sp>
      <p:sp>
        <p:nvSpPr>
          <p:cNvPr id="9" name="Slide Number Placeholder 8"/>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201718411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E80030-DAE3-4AFA-815B-CD1F1D712BBC}" type="datetimeFigureOut">
              <a:rPr lang="en-150" smtClean="0"/>
              <a:t>26/05/2026</a:t>
            </a:fld>
            <a:endParaRPr lang="en-150"/>
          </a:p>
        </p:txBody>
      </p:sp>
      <p:sp>
        <p:nvSpPr>
          <p:cNvPr id="4" name="Footer Placeholder 3"/>
          <p:cNvSpPr>
            <a:spLocks noGrp="1"/>
          </p:cNvSpPr>
          <p:nvPr>
            <p:ph type="ftr" sz="quarter" idx="11"/>
          </p:nvPr>
        </p:nvSpPr>
        <p:spPr/>
        <p:txBody>
          <a:bodyPr/>
          <a:lstStyle/>
          <a:p>
            <a:endParaRPr lang="en-150"/>
          </a:p>
        </p:txBody>
      </p:sp>
      <p:sp>
        <p:nvSpPr>
          <p:cNvPr id="5" name="Slide Number Placeholder 4"/>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402529471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E80030-DAE3-4AFA-815B-CD1F1D712BBC}" type="datetimeFigureOut">
              <a:rPr lang="en-150" smtClean="0"/>
              <a:t>26/05/2026</a:t>
            </a:fld>
            <a:endParaRPr lang="en-150"/>
          </a:p>
        </p:txBody>
      </p:sp>
      <p:sp>
        <p:nvSpPr>
          <p:cNvPr id="3" name="Footer Placeholder 2"/>
          <p:cNvSpPr>
            <a:spLocks noGrp="1"/>
          </p:cNvSpPr>
          <p:nvPr>
            <p:ph type="ftr" sz="quarter" idx="11"/>
          </p:nvPr>
        </p:nvSpPr>
        <p:spPr/>
        <p:txBody>
          <a:bodyPr/>
          <a:lstStyle/>
          <a:p>
            <a:endParaRPr lang="en-150"/>
          </a:p>
        </p:txBody>
      </p:sp>
      <p:sp>
        <p:nvSpPr>
          <p:cNvPr id="4" name="Slide Number Placeholder 3"/>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86585589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65687012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236737249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136700202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66738937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6139330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E80030-DAE3-4AFA-815B-CD1F1D712BBC}" type="datetimeFigureOut">
              <a:rPr lang="en-150" smtClean="0"/>
              <a:t>26/05/2026</a:t>
            </a:fld>
            <a:endParaRPr lang="en-150"/>
          </a:p>
        </p:txBody>
      </p:sp>
      <p:sp>
        <p:nvSpPr>
          <p:cNvPr id="6" name="Footer Placeholder 5"/>
          <p:cNvSpPr>
            <a:spLocks noGrp="1"/>
          </p:cNvSpPr>
          <p:nvPr>
            <p:ph type="ftr" sz="quarter" idx="11"/>
          </p:nvPr>
        </p:nvSpPr>
        <p:spPr/>
        <p:txBody>
          <a:bodyPr/>
          <a:lstStyle/>
          <a:p>
            <a:endParaRPr lang="en-150"/>
          </a:p>
        </p:txBody>
      </p:sp>
      <p:sp>
        <p:nvSpPr>
          <p:cNvPr id="7" name="Slide Number Placeholder 6"/>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186541807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AE80030-DAE3-4AFA-815B-CD1F1D712BBC}" type="datetimeFigureOut">
              <a:rPr lang="en-150" smtClean="0"/>
              <a:t>26/05/2026</a:t>
            </a:fld>
            <a:endParaRPr lang="en-150"/>
          </a:p>
        </p:txBody>
      </p:sp>
      <p:sp>
        <p:nvSpPr>
          <p:cNvPr id="4" name="Footer Placeholder 3"/>
          <p:cNvSpPr>
            <a:spLocks noGrp="1"/>
          </p:cNvSpPr>
          <p:nvPr>
            <p:ph type="ftr" sz="quarter" idx="11"/>
          </p:nvPr>
        </p:nvSpPr>
        <p:spPr/>
        <p:txBody>
          <a:bodyPr/>
          <a:lstStyle/>
          <a:p>
            <a:endParaRPr lang="en-150"/>
          </a:p>
        </p:txBody>
      </p:sp>
      <p:sp>
        <p:nvSpPr>
          <p:cNvPr id="5" name="Slide Number Placeholder 4"/>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164462840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AE80030-DAE3-4AFA-815B-CD1F1D712BBC}" type="datetimeFigureOut">
              <a:rPr lang="en-150" smtClean="0"/>
              <a:t>26/05/2026</a:t>
            </a:fld>
            <a:endParaRPr lang="en-150"/>
          </a:p>
        </p:txBody>
      </p:sp>
      <p:sp>
        <p:nvSpPr>
          <p:cNvPr id="4" name="Footer Placeholder 3"/>
          <p:cNvSpPr>
            <a:spLocks noGrp="1"/>
          </p:cNvSpPr>
          <p:nvPr>
            <p:ph type="ftr" sz="quarter" idx="11"/>
          </p:nvPr>
        </p:nvSpPr>
        <p:spPr/>
        <p:txBody>
          <a:bodyPr/>
          <a:lstStyle/>
          <a:p>
            <a:endParaRPr lang="en-150"/>
          </a:p>
        </p:txBody>
      </p:sp>
      <p:sp>
        <p:nvSpPr>
          <p:cNvPr id="5" name="Slide Number Placeholder 4"/>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99025451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80030-DAE3-4AFA-815B-CD1F1D712BBC}" type="datetimeFigureOut">
              <a:rPr lang="en-150" smtClean="0"/>
              <a:t>26/05/2026</a:t>
            </a:fld>
            <a:endParaRPr lang="en-150"/>
          </a:p>
        </p:txBody>
      </p:sp>
      <p:sp>
        <p:nvSpPr>
          <p:cNvPr id="5" name="Footer Placeholder 4"/>
          <p:cNvSpPr>
            <a:spLocks noGrp="1"/>
          </p:cNvSpPr>
          <p:nvPr>
            <p:ph type="ftr" sz="quarter" idx="11"/>
          </p:nvPr>
        </p:nvSpPr>
        <p:spPr/>
        <p:txBody>
          <a:bodyPr/>
          <a:lstStyle/>
          <a:p>
            <a:endParaRPr lang="en-150"/>
          </a:p>
        </p:txBody>
      </p:sp>
      <p:sp>
        <p:nvSpPr>
          <p:cNvPr id="6" name="Slide Number Placeholder 5"/>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182407588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80030-DAE3-4AFA-815B-CD1F1D712BBC}" type="datetimeFigureOut">
              <a:rPr lang="en-150" smtClean="0"/>
              <a:t>26/05/2026</a:t>
            </a:fld>
            <a:endParaRPr lang="en-150"/>
          </a:p>
        </p:txBody>
      </p:sp>
      <p:sp>
        <p:nvSpPr>
          <p:cNvPr id="5" name="Footer Placeholder 4"/>
          <p:cNvSpPr>
            <a:spLocks noGrp="1"/>
          </p:cNvSpPr>
          <p:nvPr>
            <p:ph type="ftr" sz="quarter" idx="11"/>
          </p:nvPr>
        </p:nvSpPr>
        <p:spPr/>
        <p:txBody>
          <a:bodyPr/>
          <a:lstStyle/>
          <a:p>
            <a:endParaRPr lang="en-150"/>
          </a:p>
        </p:txBody>
      </p:sp>
      <p:sp>
        <p:nvSpPr>
          <p:cNvPr id="6" name="Slide Number Placeholder 5"/>
          <p:cNvSpPr>
            <a:spLocks noGrp="1"/>
          </p:cNvSpPr>
          <p:nvPr>
            <p:ph type="sldNum" sz="quarter" idx="12"/>
          </p:nvPr>
        </p:nvSpPr>
        <p:spPr/>
        <p:txBody>
          <a:bodyPr/>
          <a:lstStyle/>
          <a:p>
            <a:fld id="{16507BF0-12BE-473C-ABCC-34458007C932}" type="slidenum">
              <a:rPr lang="en-150" smtClean="0"/>
              <a:t>‹#›</a:t>
            </a:fld>
            <a:endParaRPr lang="en-150"/>
          </a:p>
        </p:txBody>
      </p:sp>
    </p:spTree>
    <p:extLst>
      <p:ext uri="{BB962C8B-B14F-4D97-AF65-F5344CB8AC3E}">
        <p14:creationId xmlns:p14="http://schemas.microsoft.com/office/powerpoint/2010/main" val="315676357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AE80030-DAE3-4AFA-815B-CD1F1D712BBC}" type="datetimeFigureOut">
              <a:rPr lang="en-150" smtClean="0"/>
              <a:t>26/05/2026</a:t>
            </a:fld>
            <a:endParaRPr lang="en-15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15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6507BF0-12BE-473C-ABCC-34458007C932}" type="slidenum">
              <a:rPr lang="en-150" smtClean="0"/>
              <a:t>‹#›</a:t>
            </a:fld>
            <a:endParaRPr lang="en-150"/>
          </a:p>
        </p:txBody>
      </p:sp>
    </p:spTree>
    <p:extLst>
      <p:ext uri="{BB962C8B-B14F-4D97-AF65-F5344CB8AC3E}">
        <p14:creationId xmlns:p14="http://schemas.microsoft.com/office/powerpoint/2010/main" val="68203538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F540F-5125-A631-F6B6-FAD5C7189BE7}"/>
              </a:ext>
            </a:extLst>
          </p:cNvPr>
          <p:cNvSpPr>
            <a:spLocks noGrp="1"/>
          </p:cNvSpPr>
          <p:nvPr>
            <p:ph type="ctrTitle"/>
          </p:nvPr>
        </p:nvSpPr>
        <p:spPr/>
        <p:txBody>
          <a:bodyPr/>
          <a:lstStyle/>
          <a:p>
            <a:r>
              <a:rPr lang="en-US" dirty="0"/>
              <a:t>CINEMA TICKET BOOKING SYSTEM PROGAM</a:t>
            </a:r>
            <a:endParaRPr lang="en-150" dirty="0"/>
          </a:p>
        </p:txBody>
      </p:sp>
      <p:sp>
        <p:nvSpPr>
          <p:cNvPr id="3" name="Subtitle 2">
            <a:extLst>
              <a:ext uri="{FF2B5EF4-FFF2-40B4-BE49-F238E27FC236}">
                <a16:creationId xmlns:a16="http://schemas.microsoft.com/office/drawing/2014/main" id="{98A8F51B-6795-80F0-D228-D29E271858C8}"/>
              </a:ext>
            </a:extLst>
          </p:cNvPr>
          <p:cNvSpPr>
            <a:spLocks noGrp="1"/>
          </p:cNvSpPr>
          <p:nvPr>
            <p:ph type="subTitle" idx="1"/>
          </p:nvPr>
        </p:nvSpPr>
        <p:spPr/>
        <p:txBody>
          <a:bodyPr/>
          <a:lstStyle/>
          <a:p>
            <a:r>
              <a:rPr lang="en-US" dirty="0"/>
              <a:t>PRESENTED BY GROUP F</a:t>
            </a:r>
            <a:endParaRPr lang="en-150" dirty="0"/>
          </a:p>
        </p:txBody>
      </p:sp>
    </p:spTree>
    <p:extLst>
      <p:ext uri="{BB962C8B-B14F-4D97-AF65-F5344CB8AC3E}">
        <p14:creationId xmlns:p14="http://schemas.microsoft.com/office/powerpoint/2010/main" val="104590286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1385E-0B42-3D91-A1DE-445D7731D073}"/>
              </a:ext>
            </a:extLst>
          </p:cNvPr>
          <p:cNvSpPr>
            <a:spLocks noGrp="1"/>
          </p:cNvSpPr>
          <p:nvPr>
            <p:ph type="title"/>
          </p:nvPr>
        </p:nvSpPr>
        <p:spPr/>
        <p:txBody>
          <a:bodyPr/>
          <a:lstStyle/>
          <a:p>
            <a:r>
              <a:rPr lang="en-US" dirty="0"/>
              <a:t>GROUP MEMBERS</a:t>
            </a:r>
            <a:endParaRPr lang="en-150" dirty="0"/>
          </a:p>
        </p:txBody>
      </p:sp>
      <p:graphicFrame>
        <p:nvGraphicFramePr>
          <p:cNvPr id="4" name="Content Placeholder 3">
            <a:extLst>
              <a:ext uri="{FF2B5EF4-FFF2-40B4-BE49-F238E27FC236}">
                <a16:creationId xmlns:a16="http://schemas.microsoft.com/office/drawing/2014/main" id="{2D561EDF-C07F-BAFC-7CCE-282173038C6F}"/>
              </a:ext>
            </a:extLst>
          </p:cNvPr>
          <p:cNvGraphicFramePr>
            <a:graphicFrameLocks noGrp="1"/>
          </p:cNvGraphicFramePr>
          <p:nvPr>
            <p:ph idx="1"/>
            <p:extLst>
              <p:ext uri="{D42A27DB-BD31-4B8C-83A1-F6EECF244321}">
                <p14:modId xmlns:p14="http://schemas.microsoft.com/office/powerpoint/2010/main" val="778116001"/>
              </p:ext>
            </p:extLst>
          </p:nvPr>
        </p:nvGraphicFramePr>
        <p:xfrm>
          <a:off x="1141413" y="2249487"/>
          <a:ext cx="9906000" cy="3161960"/>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2211577940"/>
                    </a:ext>
                  </a:extLst>
                </a:gridCol>
                <a:gridCol w="4953000">
                  <a:extLst>
                    <a:ext uri="{9D8B030D-6E8A-4147-A177-3AD203B41FA5}">
                      <a16:colId xmlns:a16="http://schemas.microsoft.com/office/drawing/2014/main" val="459340050"/>
                    </a:ext>
                  </a:extLst>
                </a:gridCol>
              </a:tblGrid>
              <a:tr h="632392">
                <a:tc>
                  <a:txBody>
                    <a:bodyPr/>
                    <a:lstStyle/>
                    <a:p>
                      <a:r>
                        <a:rPr lang="en-US" sz="2400" dirty="0">
                          <a:latin typeface="Times New Roman" panose="02020603050405020304" pitchFamily="18" charset="0"/>
                          <a:cs typeface="Times New Roman" panose="02020603050405020304" pitchFamily="18" charset="0"/>
                        </a:rPr>
                        <a:t>NAME</a:t>
                      </a:r>
                      <a:endParaRPr lang="en-150" sz="2400" dirty="0">
                        <a:latin typeface="Times New Roman" panose="02020603050405020304" pitchFamily="18" charset="0"/>
                        <a:cs typeface="Times New Roman" panose="02020603050405020304" pitchFamily="18" charset="0"/>
                      </a:endParaRPr>
                    </a:p>
                  </a:txBody>
                  <a:tcPr marL="86139" marR="86139"/>
                </a:tc>
                <a:tc>
                  <a:txBody>
                    <a:bodyPr/>
                    <a:lstStyle/>
                    <a:p>
                      <a:r>
                        <a:rPr lang="en-US" sz="2400" dirty="0">
                          <a:latin typeface="Times New Roman" panose="02020603050405020304" pitchFamily="18" charset="0"/>
                          <a:cs typeface="Times New Roman" panose="02020603050405020304" pitchFamily="18" charset="0"/>
                        </a:rPr>
                        <a:t>REGISTRATION NUMBER</a:t>
                      </a:r>
                      <a:endParaRPr lang="en-150" sz="2400" dirty="0">
                        <a:latin typeface="Times New Roman" panose="02020603050405020304" pitchFamily="18" charset="0"/>
                        <a:cs typeface="Times New Roman" panose="02020603050405020304" pitchFamily="18" charset="0"/>
                      </a:endParaRPr>
                    </a:p>
                  </a:txBody>
                  <a:tcPr marL="86139" marR="86139"/>
                </a:tc>
                <a:extLst>
                  <a:ext uri="{0D108BD9-81ED-4DB2-BD59-A6C34878D82A}">
                    <a16:rowId xmlns:a16="http://schemas.microsoft.com/office/drawing/2014/main" val="1030227120"/>
                  </a:ext>
                </a:extLst>
              </a:tr>
              <a:tr h="632392">
                <a:tc>
                  <a:txBody>
                    <a:bodyPr/>
                    <a:lstStyle/>
                    <a:p>
                      <a:r>
                        <a:rPr lang="en-US" sz="2400" dirty="0">
                          <a:latin typeface="Times New Roman" panose="02020603050405020304" pitchFamily="18" charset="0"/>
                          <a:cs typeface="Times New Roman" panose="02020603050405020304" pitchFamily="18" charset="0"/>
                        </a:rPr>
                        <a:t>NAIWUMBWE ASSUMPTA</a:t>
                      </a:r>
                      <a:endParaRPr lang="en-150" sz="2400" dirty="0">
                        <a:latin typeface="Times New Roman" panose="02020603050405020304" pitchFamily="18" charset="0"/>
                        <a:cs typeface="Times New Roman" panose="02020603050405020304" pitchFamily="18" charset="0"/>
                      </a:endParaRPr>
                    </a:p>
                  </a:txBody>
                  <a:tcPr marL="86139" marR="86139"/>
                </a:tc>
                <a:tc>
                  <a:txBody>
                    <a:bodyPr/>
                    <a:lstStyle/>
                    <a:p>
                      <a:r>
                        <a:rPr lang="en-US" sz="2400" dirty="0">
                          <a:latin typeface="Times New Roman" panose="02020603050405020304" pitchFamily="18" charset="0"/>
                          <a:cs typeface="Times New Roman" panose="02020603050405020304" pitchFamily="18" charset="0"/>
                        </a:rPr>
                        <a:t>24/U/BIE/08557/PE</a:t>
                      </a:r>
                      <a:endParaRPr lang="en-150" sz="2400" dirty="0">
                        <a:latin typeface="Times New Roman" panose="02020603050405020304" pitchFamily="18" charset="0"/>
                        <a:cs typeface="Times New Roman" panose="02020603050405020304" pitchFamily="18" charset="0"/>
                      </a:endParaRPr>
                    </a:p>
                  </a:txBody>
                  <a:tcPr marL="86139" marR="86139"/>
                </a:tc>
                <a:extLst>
                  <a:ext uri="{0D108BD9-81ED-4DB2-BD59-A6C34878D82A}">
                    <a16:rowId xmlns:a16="http://schemas.microsoft.com/office/drawing/2014/main" val="1044446663"/>
                  </a:ext>
                </a:extLst>
              </a:tr>
              <a:tr h="632392">
                <a:tc>
                  <a:txBody>
                    <a:bodyPr/>
                    <a:lstStyle/>
                    <a:p>
                      <a:r>
                        <a:rPr lang="en-US" sz="2400" dirty="0">
                          <a:latin typeface="Times New Roman" panose="02020603050405020304" pitchFamily="18" charset="0"/>
                          <a:cs typeface="Times New Roman" panose="02020603050405020304" pitchFamily="18" charset="0"/>
                        </a:rPr>
                        <a:t>MUKINE JOEL</a:t>
                      </a:r>
                      <a:endParaRPr lang="en-150" sz="2400" dirty="0">
                        <a:latin typeface="Times New Roman" panose="02020603050405020304" pitchFamily="18" charset="0"/>
                        <a:cs typeface="Times New Roman" panose="02020603050405020304" pitchFamily="18" charset="0"/>
                      </a:endParaRPr>
                    </a:p>
                  </a:txBody>
                  <a:tcPr marL="86139" marR="86139"/>
                </a:tc>
                <a:tc>
                  <a:txBody>
                    <a:bodyPr/>
                    <a:lstStyle/>
                    <a:p>
                      <a:r>
                        <a:rPr lang="en-US" sz="2400" dirty="0">
                          <a:latin typeface="Times New Roman" panose="02020603050405020304" pitchFamily="18" charset="0"/>
                          <a:cs typeface="Times New Roman" panose="02020603050405020304" pitchFamily="18" charset="0"/>
                        </a:rPr>
                        <a:t>22/U/BIO/1688/PD</a:t>
                      </a:r>
                      <a:endParaRPr lang="en-150" sz="2400" dirty="0">
                        <a:latin typeface="Times New Roman" panose="02020603050405020304" pitchFamily="18" charset="0"/>
                        <a:cs typeface="Times New Roman" panose="02020603050405020304" pitchFamily="18" charset="0"/>
                      </a:endParaRPr>
                    </a:p>
                  </a:txBody>
                  <a:tcPr marL="86139" marR="86139"/>
                </a:tc>
                <a:extLst>
                  <a:ext uri="{0D108BD9-81ED-4DB2-BD59-A6C34878D82A}">
                    <a16:rowId xmlns:a16="http://schemas.microsoft.com/office/drawing/2014/main" val="3116836720"/>
                  </a:ext>
                </a:extLst>
              </a:tr>
              <a:tr h="632392">
                <a:tc>
                  <a:txBody>
                    <a:bodyPr/>
                    <a:lstStyle/>
                    <a:p>
                      <a:r>
                        <a:rPr lang="en-US" sz="2400" dirty="0">
                          <a:latin typeface="Times New Roman" panose="02020603050405020304" pitchFamily="18" charset="0"/>
                          <a:cs typeface="Times New Roman" panose="02020603050405020304" pitchFamily="18" charset="0"/>
                        </a:rPr>
                        <a:t>AUGUSTINE CEASAR OLOYA</a:t>
                      </a:r>
                      <a:endParaRPr lang="en-150" sz="2400" dirty="0">
                        <a:latin typeface="Times New Roman" panose="02020603050405020304" pitchFamily="18" charset="0"/>
                        <a:cs typeface="Times New Roman" panose="02020603050405020304" pitchFamily="18" charset="0"/>
                      </a:endParaRPr>
                    </a:p>
                  </a:txBody>
                  <a:tcPr marL="86139" marR="86139"/>
                </a:tc>
                <a:tc>
                  <a:txBody>
                    <a:bodyPr/>
                    <a:lstStyle/>
                    <a:p>
                      <a:r>
                        <a:rPr lang="en-US" sz="2400" dirty="0">
                          <a:latin typeface="Times New Roman" panose="02020603050405020304" pitchFamily="18" charset="0"/>
                          <a:cs typeface="Times New Roman" panose="02020603050405020304" pitchFamily="18" charset="0"/>
                        </a:rPr>
                        <a:t>24/U/BIE/03994/PE</a:t>
                      </a:r>
                      <a:endParaRPr lang="en-150" sz="2400" dirty="0">
                        <a:latin typeface="Times New Roman" panose="02020603050405020304" pitchFamily="18" charset="0"/>
                        <a:cs typeface="Times New Roman" panose="02020603050405020304" pitchFamily="18" charset="0"/>
                      </a:endParaRPr>
                    </a:p>
                  </a:txBody>
                  <a:tcPr marL="86139" marR="86139"/>
                </a:tc>
                <a:extLst>
                  <a:ext uri="{0D108BD9-81ED-4DB2-BD59-A6C34878D82A}">
                    <a16:rowId xmlns:a16="http://schemas.microsoft.com/office/drawing/2014/main" val="1938783182"/>
                  </a:ext>
                </a:extLst>
              </a:tr>
              <a:tr h="632392">
                <a:tc>
                  <a:txBody>
                    <a:bodyPr/>
                    <a:lstStyle/>
                    <a:p>
                      <a:r>
                        <a:rPr lang="en-US" sz="2400" dirty="0">
                          <a:latin typeface="Times New Roman" panose="02020603050405020304" pitchFamily="18" charset="0"/>
                          <a:cs typeface="Times New Roman" panose="02020603050405020304" pitchFamily="18" charset="0"/>
                        </a:rPr>
                        <a:t>RUGABA BENEDICT</a:t>
                      </a:r>
                      <a:endParaRPr lang="en-150" sz="2400" dirty="0">
                        <a:latin typeface="Times New Roman" panose="02020603050405020304" pitchFamily="18" charset="0"/>
                        <a:cs typeface="Times New Roman" panose="02020603050405020304" pitchFamily="18" charset="0"/>
                      </a:endParaRPr>
                    </a:p>
                  </a:txBody>
                  <a:tcPr marL="86139" marR="86139"/>
                </a:tc>
                <a:tc>
                  <a:txBody>
                    <a:bodyPr/>
                    <a:lstStyle/>
                    <a:p>
                      <a:r>
                        <a:rPr lang="en-US" sz="2400" dirty="0">
                          <a:latin typeface="Times New Roman" panose="02020603050405020304" pitchFamily="18" charset="0"/>
                          <a:cs typeface="Times New Roman" panose="02020603050405020304" pitchFamily="18" charset="0"/>
                        </a:rPr>
                        <a:t>25/U/BIE/01417/PE</a:t>
                      </a:r>
                      <a:endParaRPr lang="en-150" sz="2400" dirty="0">
                        <a:latin typeface="Times New Roman" panose="02020603050405020304" pitchFamily="18" charset="0"/>
                        <a:cs typeface="Times New Roman" panose="02020603050405020304" pitchFamily="18" charset="0"/>
                      </a:endParaRPr>
                    </a:p>
                  </a:txBody>
                  <a:tcPr marL="86139" marR="86139"/>
                </a:tc>
                <a:extLst>
                  <a:ext uri="{0D108BD9-81ED-4DB2-BD59-A6C34878D82A}">
                    <a16:rowId xmlns:a16="http://schemas.microsoft.com/office/drawing/2014/main" val="3651137116"/>
                  </a:ext>
                </a:extLst>
              </a:tr>
            </a:tbl>
          </a:graphicData>
        </a:graphic>
      </p:graphicFrame>
    </p:spTree>
    <p:extLst>
      <p:ext uri="{BB962C8B-B14F-4D97-AF65-F5344CB8AC3E}">
        <p14:creationId xmlns:p14="http://schemas.microsoft.com/office/powerpoint/2010/main" val="72297222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96911-7DC4-8B71-7AF1-30B192BDAAA4}"/>
              </a:ext>
            </a:extLst>
          </p:cNvPr>
          <p:cNvSpPr>
            <a:spLocks noGrp="1"/>
          </p:cNvSpPr>
          <p:nvPr>
            <p:ph type="title"/>
          </p:nvPr>
        </p:nvSpPr>
        <p:spPr/>
        <p:txBody>
          <a:bodyPr/>
          <a:lstStyle/>
          <a:p>
            <a:r>
              <a:rPr lang="en-US" dirty="0"/>
              <a:t>INTRODUCTION</a:t>
            </a:r>
            <a:endParaRPr lang="en-150" dirty="0"/>
          </a:p>
        </p:txBody>
      </p:sp>
      <p:sp>
        <p:nvSpPr>
          <p:cNvPr id="3" name="Content Placeholder 2">
            <a:extLst>
              <a:ext uri="{FF2B5EF4-FFF2-40B4-BE49-F238E27FC236}">
                <a16:creationId xmlns:a16="http://schemas.microsoft.com/office/drawing/2014/main" id="{1553F8CD-BA73-5A93-357F-B4D7A74EAF5C}"/>
              </a:ext>
            </a:extLst>
          </p:cNvPr>
          <p:cNvSpPr>
            <a:spLocks noGrp="1"/>
          </p:cNvSpPr>
          <p:nvPr>
            <p:ph idx="1"/>
          </p:nvPr>
        </p:nvSpPr>
        <p:spPr/>
        <p:txBody>
          <a:bodyPr>
            <a:noAutofit/>
          </a:bodyPr>
          <a:lstStyle/>
          <a:p>
            <a:r>
              <a:rPr lang="en-US" dirty="0"/>
              <a:t>The cinema ticket booking system can be used booking, cancelling the bookings, checking for available seats and other customers services in a movie theater.</a:t>
            </a:r>
          </a:p>
          <a:p>
            <a:r>
              <a:rPr lang="en-US" dirty="0"/>
              <a:t>As a group we were tasked to make a program, write a technical report and this presentation will portray how we arrange and came up with the program.</a:t>
            </a:r>
          </a:p>
          <a:p>
            <a:r>
              <a:rPr lang="en-US" dirty="0"/>
              <a:t>We used the IDE VS code, programming language, C and a report generator LaTeX and its editor Overleaf.</a:t>
            </a:r>
          </a:p>
          <a:p>
            <a:r>
              <a:rPr lang="en-US" dirty="0"/>
              <a:t> Then also incur the use GitHub and also the use of LLMs</a:t>
            </a:r>
            <a:endParaRPr lang="en-150" dirty="0"/>
          </a:p>
        </p:txBody>
      </p:sp>
    </p:spTree>
    <p:extLst>
      <p:ext uri="{BB962C8B-B14F-4D97-AF65-F5344CB8AC3E}">
        <p14:creationId xmlns:p14="http://schemas.microsoft.com/office/powerpoint/2010/main" val="110762787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2241-17D4-22FE-5F48-F4BCB3A1CF14}"/>
              </a:ext>
            </a:extLst>
          </p:cNvPr>
          <p:cNvSpPr>
            <a:spLocks noGrp="1"/>
          </p:cNvSpPr>
          <p:nvPr>
            <p:ph type="title"/>
          </p:nvPr>
        </p:nvSpPr>
        <p:spPr/>
        <p:txBody>
          <a:bodyPr/>
          <a:lstStyle/>
          <a:p>
            <a:r>
              <a:rPr lang="en-US" dirty="0"/>
              <a:t>THE PROGRAM.</a:t>
            </a:r>
            <a:endParaRPr lang="en-150" dirty="0"/>
          </a:p>
        </p:txBody>
      </p:sp>
      <p:sp>
        <p:nvSpPr>
          <p:cNvPr id="3" name="Content Placeholder 2">
            <a:extLst>
              <a:ext uri="{FF2B5EF4-FFF2-40B4-BE49-F238E27FC236}">
                <a16:creationId xmlns:a16="http://schemas.microsoft.com/office/drawing/2014/main" id="{5A9B21ED-5B23-6C93-5E4A-7B52D952535A}"/>
              </a:ext>
            </a:extLst>
          </p:cNvPr>
          <p:cNvSpPr>
            <a:spLocks noGrp="1"/>
          </p:cNvSpPr>
          <p:nvPr>
            <p:ph idx="1"/>
          </p:nvPr>
        </p:nvSpPr>
        <p:spPr/>
        <p:txBody>
          <a:bodyPr/>
          <a:lstStyle/>
          <a:p>
            <a:r>
              <a:rPr lang="en-US" dirty="0"/>
              <a:t>The program was made using the language C and we used quite a number functions like printf, scanf in C which helped us to achieve the Cinema ticket Booking system to display and accept user input respectively.</a:t>
            </a:r>
          </a:p>
          <a:p>
            <a:r>
              <a:rPr lang="en-US" dirty="0"/>
              <a:t>We used different kinds of directives like #include&lt;stdio.h&gt;, #include&lt;stdlib&gt; and #include&lt;string.h&gt; of which the use will be explained.</a:t>
            </a:r>
          </a:p>
          <a:p>
            <a:r>
              <a:rPr lang="en-US" dirty="0"/>
              <a:t>Other techniques like Structures, voids, preprocessors and loops like while and if statements which will be explained later on.</a:t>
            </a:r>
          </a:p>
        </p:txBody>
      </p:sp>
    </p:spTree>
    <p:extLst>
      <p:ext uri="{BB962C8B-B14F-4D97-AF65-F5344CB8AC3E}">
        <p14:creationId xmlns:p14="http://schemas.microsoft.com/office/powerpoint/2010/main" val="423860482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FB963-BA3B-3F5A-DF80-FFEDFA7392CA}"/>
              </a:ext>
            </a:extLst>
          </p:cNvPr>
          <p:cNvSpPr>
            <a:spLocks noGrp="1"/>
          </p:cNvSpPr>
          <p:nvPr>
            <p:ph type="title"/>
          </p:nvPr>
        </p:nvSpPr>
        <p:spPr/>
        <p:txBody>
          <a:bodyPr/>
          <a:lstStyle/>
          <a:p>
            <a:r>
              <a:rPr lang="en-US" dirty="0"/>
              <a:t>EXPLANATION DIFFERNENT TECHNIQUES.</a:t>
            </a:r>
            <a:endParaRPr lang="en-150" dirty="0"/>
          </a:p>
        </p:txBody>
      </p:sp>
      <p:sp>
        <p:nvSpPr>
          <p:cNvPr id="3" name="Text Placeholder 2">
            <a:extLst>
              <a:ext uri="{FF2B5EF4-FFF2-40B4-BE49-F238E27FC236}">
                <a16:creationId xmlns:a16="http://schemas.microsoft.com/office/drawing/2014/main" id="{EC2417DD-416B-2897-055A-DB609A182D05}"/>
              </a:ext>
            </a:extLst>
          </p:cNvPr>
          <p:cNvSpPr>
            <a:spLocks noGrp="1"/>
          </p:cNvSpPr>
          <p:nvPr>
            <p:ph type="body" idx="1"/>
          </p:nvPr>
        </p:nvSpPr>
        <p:spPr/>
        <p:txBody>
          <a:bodyPr/>
          <a:lstStyle/>
          <a:p>
            <a:r>
              <a:rPr lang="en-US" dirty="0"/>
              <a:t>STRUCTURES</a:t>
            </a:r>
            <a:endParaRPr lang="en-150" dirty="0"/>
          </a:p>
        </p:txBody>
      </p:sp>
      <p:sp>
        <p:nvSpPr>
          <p:cNvPr id="4" name="Content Placeholder 3">
            <a:extLst>
              <a:ext uri="{FF2B5EF4-FFF2-40B4-BE49-F238E27FC236}">
                <a16:creationId xmlns:a16="http://schemas.microsoft.com/office/drawing/2014/main" id="{9F0BEF38-F109-4B13-001F-8AB1F822F514}"/>
              </a:ext>
            </a:extLst>
          </p:cNvPr>
          <p:cNvSpPr>
            <a:spLocks noGrp="1"/>
          </p:cNvSpPr>
          <p:nvPr>
            <p:ph sz="half" idx="2"/>
          </p:nvPr>
        </p:nvSpPr>
        <p:spPr/>
        <p:txBody>
          <a:bodyPr>
            <a:normAutofit fontScale="70000" lnSpcReduction="20000"/>
          </a:bodyPr>
          <a:lstStyle/>
          <a:p>
            <a:r>
              <a:rPr lang="en-US" dirty="0"/>
              <a:t>We used the structures to cater for the two scenarios when the customer comes.</a:t>
            </a:r>
          </a:p>
          <a:p>
            <a:r>
              <a:rPr lang="en-US" dirty="0"/>
              <a:t>The scenario of booking and the scenario for choosing a movie.</a:t>
            </a:r>
          </a:p>
          <a:p>
            <a:r>
              <a:rPr lang="en-US" dirty="0"/>
              <a:t>This saves us since the program will be able to carter for more than one customer</a:t>
            </a:r>
            <a:endParaRPr lang="en-150" dirty="0"/>
          </a:p>
        </p:txBody>
      </p:sp>
      <p:sp>
        <p:nvSpPr>
          <p:cNvPr id="5" name="Text Placeholder 4">
            <a:extLst>
              <a:ext uri="{FF2B5EF4-FFF2-40B4-BE49-F238E27FC236}">
                <a16:creationId xmlns:a16="http://schemas.microsoft.com/office/drawing/2014/main" id="{A18FAE4B-F490-7B99-99AB-A65CE3215294}"/>
              </a:ext>
            </a:extLst>
          </p:cNvPr>
          <p:cNvSpPr>
            <a:spLocks noGrp="1"/>
          </p:cNvSpPr>
          <p:nvPr>
            <p:ph type="body" sz="quarter" idx="3"/>
          </p:nvPr>
        </p:nvSpPr>
        <p:spPr/>
        <p:txBody>
          <a:bodyPr/>
          <a:lstStyle/>
          <a:p>
            <a:r>
              <a:rPr lang="en-US" dirty="0"/>
              <a:t>PREPROCESSORS</a:t>
            </a:r>
            <a:endParaRPr lang="en-150" dirty="0"/>
          </a:p>
        </p:txBody>
      </p:sp>
      <p:sp>
        <p:nvSpPr>
          <p:cNvPr id="6" name="Content Placeholder 5">
            <a:extLst>
              <a:ext uri="{FF2B5EF4-FFF2-40B4-BE49-F238E27FC236}">
                <a16:creationId xmlns:a16="http://schemas.microsoft.com/office/drawing/2014/main" id="{5A5B87C1-E16E-BEA7-5337-81720A87B73E}"/>
              </a:ext>
            </a:extLst>
          </p:cNvPr>
          <p:cNvSpPr>
            <a:spLocks noGrp="1"/>
          </p:cNvSpPr>
          <p:nvPr>
            <p:ph sz="quarter" idx="4"/>
          </p:nvPr>
        </p:nvSpPr>
        <p:spPr/>
        <p:txBody>
          <a:bodyPr>
            <a:normAutofit fontScale="70000" lnSpcReduction="20000"/>
          </a:bodyPr>
          <a:lstStyle/>
          <a:p>
            <a:r>
              <a:rPr lang="en-US" dirty="0"/>
              <a:t>They include;</a:t>
            </a:r>
          </a:p>
          <a:p>
            <a:pPr lvl="1"/>
            <a:r>
              <a:rPr lang="en-US" dirty="0"/>
              <a:t>define MAX_SEATS 20</a:t>
            </a:r>
          </a:p>
          <a:p>
            <a:pPr lvl="1"/>
            <a:r>
              <a:rPr lang="en-US" dirty="0"/>
              <a:t>#define MAX_MOVIES 3</a:t>
            </a:r>
          </a:p>
          <a:p>
            <a:pPr lvl="1"/>
            <a:r>
              <a:rPr lang="en-US" dirty="0"/>
              <a:t>#define MAX_BOOKINGS 100</a:t>
            </a:r>
          </a:p>
          <a:p>
            <a:r>
              <a:rPr lang="en-US" dirty="0"/>
              <a:t>These help to define a constant value in the program.</a:t>
            </a:r>
          </a:p>
          <a:p>
            <a:r>
              <a:rPr lang="en-US" dirty="0"/>
              <a:t>There are used to replace an assigned figure to where the variable has been placed.</a:t>
            </a:r>
            <a:endParaRPr lang="en-150" dirty="0"/>
          </a:p>
        </p:txBody>
      </p:sp>
    </p:spTree>
    <p:extLst>
      <p:ext uri="{BB962C8B-B14F-4D97-AF65-F5344CB8AC3E}">
        <p14:creationId xmlns:p14="http://schemas.microsoft.com/office/powerpoint/2010/main" val="307595264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0495F-F607-6D2F-DA1D-620E1BB6A86A}"/>
              </a:ext>
            </a:extLst>
          </p:cNvPr>
          <p:cNvSpPr>
            <a:spLocks noGrp="1"/>
          </p:cNvSpPr>
          <p:nvPr>
            <p:ph type="title"/>
          </p:nvPr>
        </p:nvSpPr>
        <p:spPr/>
        <p:txBody>
          <a:bodyPr/>
          <a:lstStyle/>
          <a:p>
            <a:r>
              <a:rPr lang="en-US" dirty="0"/>
              <a:t>Continued Explanation.</a:t>
            </a:r>
            <a:endParaRPr lang="en-150" dirty="0"/>
          </a:p>
        </p:txBody>
      </p:sp>
      <p:sp>
        <p:nvSpPr>
          <p:cNvPr id="3" name="Text Placeholder 2">
            <a:extLst>
              <a:ext uri="{FF2B5EF4-FFF2-40B4-BE49-F238E27FC236}">
                <a16:creationId xmlns:a16="http://schemas.microsoft.com/office/drawing/2014/main" id="{6E2DB067-B083-0D44-139D-E652BAF8B98F}"/>
              </a:ext>
            </a:extLst>
          </p:cNvPr>
          <p:cNvSpPr>
            <a:spLocks noGrp="1"/>
          </p:cNvSpPr>
          <p:nvPr>
            <p:ph type="body" idx="1"/>
          </p:nvPr>
        </p:nvSpPr>
        <p:spPr/>
        <p:txBody>
          <a:bodyPr/>
          <a:lstStyle/>
          <a:p>
            <a:r>
              <a:rPr lang="en-US" dirty="0"/>
              <a:t>DIRECTIVES</a:t>
            </a:r>
            <a:endParaRPr lang="en-150" dirty="0"/>
          </a:p>
        </p:txBody>
      </p:sp>
      <p:sp>
        <p:nvSpPr>
          <p:cNvPr id="4" name="Content Placeholder 3">
            <a:extLst>
              <a:ext uri="{FF2B5EF4-FFF2-40B4-BE49-F238E27FC236}">
                <a16:creationId xmlns:a16="http://schemas.microsoft.com/office/drawing/2014/main" id="{F7F3BD04-E82F-0292-014A-25F0121D52B5}"/>
              </a:ext>
            </a:extLst>
          </p:cNvPr>
          <p:cNvSpPr>
            <a:spLocks noGrp="1"/>
          </p:cNvSpPr>
          <p:nvPr>
            <p:ph sz="half" idx="2"/>
          </p:nvPr>
        </p:nvSpPr>
        <p:spPr/>
        <p:txBody>
          <a:bodyPr>
            <a:normAutofit fontScale="77500" lnSpcReduction="20000"/>
          </a:bodyPr>
          <a:lstStyle/>
          <a:p>
            <a:r>
              <a:rPr lang="en-US" dirty="0"/>
              <a:t>#include&lt;stdio.h&gt;, #include&lt;stdlib&gt; and #include&lt;string.h&gt;</a:t>
            </a:r>
          </a:p>
          <a:p>
            <a:r>
              <a:rPr lang="en-US" dirty="0"/>
              <a:t>These provided the necessary library from which the function like printf where obtain from.</a:t>
            </a:r>
          </a:p>
          <a:p>
            <a:r>
              <a:rPr lang="en-US" dirty="0"/>
              <a:t>#include&lt;stdlib&gt; look new but it’s where we get the function of void.</a:t>
            </a:r>
            <a:endParaRPr lang="en-150" dirty="0"/>
          </a:p>
        </p:txBody>
      </p:sp>
      <p:sp>
        <p:nvSpPr>
          <p:cNvPr id="5" name="Text Placeholder 4">
            <a:extLst>
              <a:ext uri="{FF2B5EF4-FFF2-40B4-BE49-F238E27FC236}">
                <a16:creationId xmlns:a16="http://schemas.microsoft.com/office/drawing/2014/main" id="{788FD0F8-CBA5-E3BD-25DB-98CFC726277A}"/>
              </a:ext>
            </a:extLst>
          </p:cNvPr>
          <p:cNvSpPr>
            <a:spLocks noGrp="1"/>
          </p:cNvSpPr>
          <p:nvPr>
            <p:ph type="body" sz="quarter" idx="3"/>
          </p:nvPr>
        </p:nvSpPr>
        <p:spPr/>
        <p:txBody>
          <a:bodyPr/>
          <a:lstStyle/>
          <a:p>
            <a:r>
              <a:rPr lang="en-US" dirty="0"/>
              <a:t>Loops</a:t>
            </a:r>
            <a:endParaRPr lang="en-150" dirty="0"/>
          </a:p>
        </p:txBody>
      </p:sp>
      <p:sp>
        <p:nvSpPr>
          <p:cNvPr id="6" name="Content Placeholder 5">
            <a:extLst>
              <a:ext uri="{FF2B5EF4-FFF2-40B4-BE49-F238E27FC236}">
                <a16:creationId xmlns:a16="http://schemas.microsoft.com/office/drawing/2014/main" id="{26174CA5-0C75-2196-3DAC-C1EA23F5A7B5}"/>
              </a:ext>
            </a:extLst>
          </p:cNvPr>
          <p:cNvSpPr>
            <a:spLocks noGrp="1"/>
          </p:cNvSpPr>
          <p:nvPr>
            <p:ph sz="quarter" idx="4"/>
          </p:nvPr>
        </p:nvSpPr>
        <p:spPr/>
        <p:txBody>
          <a:bodyPr>
            <a:normAutofit fontScale="77500" lnSpcReduction="20000"/>
          </a:bodyPr>
          <a:lstStyle/>
          <a:p>
            <a:r>
              <a:rPr lang="en-US" dirty="0"/>
              <a:t>In our program we used mainly two loop function, while, if and switch.</a:t>
            </a:r>
          </a:p>
          <a:p>
            <a:r>
              <a:rPr lang="en-US" dirty="0"/>
              <a:t>The while(1) helped us to continuously accept user input; this was possible because of the 1 in the bracket which was tell the program the everything is true.</a:t>
            </a:r>
          </a:p>
          <a:p>
            <a:r>
              <a:rPr lang="en-US" dirty="0"/>
              <a:t>The if was mainly used to distinguish child, student and adult.</a:t>
            </a:r>
            <a:endParaRPr lang="en-150" dirty="0"/>
          </a:p>
        </p:txBody>
      </p:sp>
    </p:spTree>
    <p:extLst>
      <p:ext uri="{BB962C8B-B14F-4D97-AF65-F5344CB8AC3E}">
        <p14:creationId xmlns:p14="http://schemas.microsoft.com/office/powerpoint/2010/main" val="224877579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924EA-62ED-0C59-563D-94EABAD39D0F}"/>
              </a:ext>
            </a:extLst>
          </p:cNvPr>
          <p:cNvSpPr>
            <a:spLocks noGrp="1"/>
          </p:cNvSpPr>
          <p:nvPr>
            <p:ph type="title"/>
          </p:nvPr>
        </p:nvSpPr>
        <p:spPr/>
        <p:txBody>
          <a:bodyPr/>
          <a:lstStyle/>
          <a:p>
            <a:r>
              <a:rPr lang="en-US" dirty="0"/>
              <a:t>Continuation</a:t>
            </a:r>
            <a:endParaRPr lang="en-150" dirty="0"/>
          </a:p>
        </p:txBody>
      </p:sp>
      <p:sp>
        <p:nvSpPr>
          <p:cNvPr id="3" name="Text Placeholder 2">
            <a:extLst>
              <a:ext uri="{FF2B5EF4-FFF2-40B4-BE49-F238E27FC236}">
                <a16:creationId xmlns:a16="http://schemas.microsoft.com/office/drawing/2014/main" id="{D6F9F68C-B8C2-5212-1A42-DA681DEA4985}"/>
              </a:ext>
            </a:extLst>
          </p:cNvPr>
          <p:cNvSpPr>
            <a:spLocks noGrp="1"/>
          </p:cNvSpPr>
          <p:nvPr>
            <p:ph type="body" idx="1"/>
          </p:nvPr>
        </p:nvSpPr>
        <p:spPr/>
        <p:txBody>
          <a:bodyPr/>
          <a:lstStyle/>
          <a:p>
            <a:r>
              <a:rPr lang="en-US" dirty="0"/>
              <a:t>VOIDS</a:t>
            </a:r>
            <a:endParaRPr lang="en-150" dirty="0"/>
          </a:p>
        </p:txBody>
      </p:sp>
      <p:sp>
        <p:nvSpPr>
          <p:cNvPr id="4" name="Content Placeholder 3">
            <a:extLst>
              <a:ext uri="{FF2B5EF4-FFF2-40B4-BE49-F238E27FC236}">
                <a16:creationId xmlns:a16="http://schemas.microsoft.com/office/drawing/2014/main" id="{6F96F268-3F9D-3D76-A78D-6505F11B6B40}"/>
              </a:ext>
            </a:extLst>
          </p:cNvPr>
          <p:cNvSpPr>
            <a:spLocks noGrp="1"/>
          </p:cNvSpPr>
          <p:nvPr>
            <p:ph sz="half" idx="2"/>
          </p:nvPr>
        </p:nvSpPr>
        <p:spPr/>
        <p:txBody>
          <a:bodyPr>
            <a:normAutofit fontScale="92500"/>
          </a:bodyPr>
          <a:lstStyle/>
          <a:p>
            <a:r>
              <a:rPr lang="en-US" dirty="0"/>
              <a:t>These were used to cater for the different options in the menu.</a:t>
            </a:r>
          </a:p>
          <a:p>
            <a:r>
              <a:rPr lang="en-US" dirty="0"/>
              <a:t>The void function is used to perform operation just like the options in the menu but does not return a value.</a:t>
            </a:r>
            <a:endParaRPr lang="en-150" dirty="0"/>
          </a:p>
        </p:txBody>
      </p:sp>
      <p:sp>
        <p:nvSpPr>
          <p:cNvPr id="5" name="Text Placeholder 4">
            <a:extLst>
              <a:ext uri="{FF2B5EF4-FFF2-40B4-BE49-F238E27FC236}">
                <a16:creationId xmlns:a16="http://schemas.microsoft.com/office/drawing/2014/main" id="{EF13871B-D0B9-7440-64A6-9F2DE3CA4187}"/>
              </a:ext>
            </a:extLst>
          </p:cNvPr>
          <p:cNvSpPr>
            <a:spLocks noGrp="1"/>
          </p:cNvSpPr>
          <p:nvPr>
            <p:ph type="body" sz="quarter" idx="3"/>
          </p:nvPr>
        </p:nvSpPr>
        <p:spPr/>
        <p:txBody>
          <a:bodyPr/>
          <a:lstStyle/>
          <a:p>
            <a:r>
              <a:rPr lang="en-US" dirty="0"/>
              <a:t>ARRAYS and LOGICAL OPERATORS</a:t>
            </a:r>
            <a:endParaRPr lang="en-150" dirty="0"/>
          </a:p>
        </p:txBody>
      </p:sp>
      <p:sp>
        <p:nvSpPr>
          <p:cNvPr id="6" name="Content Placeholder 5">
            <a:extLst>
              <a:ext uri="{FF2B5EF4-FFF2-40B4-BE49-F238E27FC236}">
                <a16:creationId xmlns:a16="http://schemas.microsoft.com/office/drawing/2014/main" id="{B7F4252A-2C9A-B91F-45A1-5AA8AC900A80}"/>
              </a:ext>
            </a:extLst>
          </p:cNvPr>
          <p:cNvSpPr>
            <a:spLocks noGrp="1"/>
          </p:cNvSpPr>
          <p:nvPr>
            <p:ph sz="quarter" idx="4"/>
          </p:nvPr>
        </p:nvSpPr>
        <p:spPr/>
        <p:txBody>
          <a:bodyPr>
            <a:normAutofit fontScale="92500"/>
          </a:bodyPr>
          <a:lstStyle/>
          <a:p>
            <a:r>
              <a:rPr lang="en-US" dirty="0"/>
              <a:t>As we know arrays are used to store many elements of the same data type of which there features of indexing came in handy.</a:t>
            </a:r>
          </a:p>
          <a:p>
            <a:r>
              <a:rPr lang="en-US" dirty="0"/>
              <a:t>The Logical operators like ||, != were used to relate different elements. </a:t>
            </a:r>
          </a:p>
          <a:p>
            <a:endParaRPr lang="en-150" dirty="0"/>
          </a:p>
        </p:txBody>
      </p:sp>
    </p:spTree>
    <p:extLst>
      <p:ext uri="{BB962C8B-B14F-4D97-AF65-F5344CB8AC3E}">
        <p14:creationId xmlns:p14="http://schemas.microsoft.com/office/powerpoint/2010/main" val="343408890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3C6F-F884-6613-677C-B954EFD2A1AD}"/>
              </a:ext>
            </a:extLst>
          </p:cNvPr>
          <p:cNvSpPr>
            <a:spLocks noGrp="1"/>
          </p:cNvSpPr>
          <p:nvPr>
            <p:ph type="title"/>
          </p:nvPr>
        </p:nvSpPr>
        <p:spPr/>
        <p:txBody>
          <a:bodyPr/>
          <a:lstStyle/>
          <a:p>
            <a:r>
              <a:rPr lang="en-US" dirty="0"/>
              <a:t>THE TECHNICAL REPORT.</a:t>
            </a:r>
            <a:endParaRPr lang="en-150" dirty="0"/>
          </a:p>
        </p:txBody>
      </p:sp>
      <p:sp>
        <p:nvSpPr>
          <p:cNvPr id="3" name="Content Placeholder 2">
            <a:extLst>
              <a:ext uri="{FF2B5EF4-FFF2-40B4-BE49-F238E27FC236}">
                <a16:creationId xmlns:a16="http://schemas.microsoft.com/office/drawing/2014/main" id="{554219F8-8316-B46F-F867-7984B0D6EB9F}"/>
              </a:ext>
            </a:extLst>
          </p:cNvPr>
          <p:cNvSpPr>
            <a:spLocks noGrp="1"/>
          </p:cNvSpPr>
          <p:nvPr>
            <p:ph idx="1"/>
          </p:nvPr>
        </p:nvSpPr>
        <p:spPr/>
        <p:txBody>
          <a:bodyPr/>
          <a:lstStyle/>
          <a:p>
            <a:r>
              <a:rPr lang="en-US" dirty="0"/>
              <a:t>We were instructed to used report generator called LaTeX, to make a short technical report on our program.</a:t>
            </a:r>
          </a:p>
          <a:p>
            <a:r>
              <a:rPr lang="en-US" dirty="0"/>
              <a:t>We used software online editor called Overleaf, to organize the “code” that the editor recompiled and generated the report which is available in our GitHub repository link</a:t>
            </a:r>
          </a:p>
          <a:p>
            <a:r>
              <a:rPr lang="en-US" dirty="0"/>
              <a:t>The report include the different structure of the program and its basic use in the World of Cinemas.</a:t>
            </a:r>
            <a:endParaRPr lang="en-150" dirty="0"/>
          </a:p>
        </p:txBody>
      </p:sp>
    </p:spTree>
    <p:extLst>
      <p:ext uri="{BB962C8B-B14F-4D97-AF65-F5344CB8AC3E}">
        <p14:creationId xmlns:p14="http://schemas.microsoft.com/office/powerpoint/2010/main" val="33517866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D7A5-A8D7-FF17-3AB6-64416D89E1A8}"/>
              </a:ext>
            </a:extLst>
          </p:cNvPr>
          <p:cNvSpPr>
            <a:spLocks noGrp="1"/>
          </p:cNvSpPr>
          <p:nvPr>
            <p:ph type="title"/>
          </p:nvPr>
        </p:nvSpPr>
        <p:spPr/>
        <p:txBody>
          <a:bodyPr/>
          <a:lstStyle/>
          <a:p>
            <a:r>
              <a:rPr lang="en-US" dirty="0"/>
              <a:t>GITHUB AND LLMs</a:t>
            </a:r>
            <a:endParaRPr lang="en-150" dirty="0"/>
          </a:p>
        </p:txBody>
      </p:sp>
      <p:sp>
        <p:nvSpPr>
          <p:cNvPr id="3" name="Text Placeholder 2">
            <a:extLst>
              <a:ext uri="{FF2B5EF4-FFF2-40B4-BE49-F238E27FC236}">
                <a16:creationId xmlns:a16="http://schemas.microsoft.com/office/drawing/2014/main" id="{7B19F7E7-8D56-DB52-C162-4A3DAAE398E6}"/>
              </a:ext>
            </a:extLst>
          </p:cNvPr>
          <p:cNvSpPr>
            <a:spLocks noGrp="1"/>
          </p:cNvSpPr>
          <p:nvPr>
            <p:ph type="body" idx="1"/>
          </p:nvPr>
        </p:nvSpPr>
        <p:spPr/>
        <p:txBody>
          <a:bodyPr/>
          <a:lstStyle/>
          <a:p>
            <a:r>
              <a:rPr lang="en-US" dirty="0"/>
              <a:t>GITHUB</a:t>
            </a:r>
            <a:endParaRPr lang="en-150" dirty="0"/>
          </a:p>
        </p:txBody>
      </p:sp>
      <p:sp>
        <p:nvSpPr>
          <p:cNvPr id="4" name="Content Placeholder 3">
            <a:extLst>
              <a:ext uri="{FF2B5EF4-FFF2-40B4-BE49-F238E27FC236}">
                <a16:creationId xmlns:a16="http://schemas.microsoft.com/office/drawing/2014/main" id="{BA31709F-B3E0-AC6E-9C5D-2491C5DEB99A}"/>
              </a:ext>
            </a:extLst>
          </p:cNvPr>
          <p:cNvSpPr>
            <a:spLocks noGrp="1"/>
          </p:cNvSpPr>
          <p:nvPr>
            <p:ph sz="half" idx="2"/>
          </p:nvPr>
        </p:nvSpPr>
        <p:spPr/>
        <p:txBody>
          <a:bodyPr>
            <a:normAutofit fontScale="92500"/>
          </a:bodyPr>
          <a:lstStyle/>
          <a:p>
            <a:r>
              <a:rPr lang="en-US" dirty="0"/>
              <a:t>The group used GitHub to make different edit to the program, the README file and the “code” to the LaTeX generated report.</a:t>
            </a:r>
          </a:p>
          <a:p>
            <a:r>
              <a:rPr lang="en-US" dirty="0"/>
              <a:t>This was done by the collaboration tools from Git Hub</a:t>
            </a:r>
            <a:endParaRPr lang="en-150" dirty="0"/>
          </a:p>
        </p:txBody>
      </p:sp>
      <p:sp>
        <p:nvSpPr>
          <p:cNvPr id="5" name="Text Placeholder 4">
            <a:extLst>
              <a:ext uri="{FF2B5EF4-FFF2-40B4-BE49-F238E27FC236}">
                <a16:creationId xmlns:a16="http://schemas.microsoft.com/office/drawing/2014/main" id="{8969CBC0-BA64-3FCB-0B48-2C01FBF012A5}"/>
              </a:ext>
            </a:extLst>
          </p:cNvPr>
          <p:cNvSpPr>
            <a:spLocks noGrp="1"/>
          </p:cNvSpPr>
          <p:nvPr>
            <p:ph type="body" sz="quarter" idx="3"/>
          </p:nvPr>
        </p:nvSpPr>
        <p:spPr/>
        <p:txBody>
          <a:bodyPr/>
          <a:lstStyle/>
          <a:p>
            <a:r>
              <a:rPr lang="en-US" dirty="0"/>
              <a:t>LLMs</a:t>
            </a:r>
            <a:endParaRPr lang="en-150" dirty="0"/>
          </a:p>
        </p:txBody>
      </p:sp>
      <p:sp>
        <p:nvSpPr>
          <p:cNvPr id="6" name="Content Placeholder 5">
            <a:extLst>
              <a:ext uri="{FF2B5EF4-FFF2-40B4-BE49-F238E27FC236}">
                <a16:creationId xmlns:a16="http://schemas.microsoft.com/office/drawing/2014/main" id="{F2660A80-9AD3-B896-5592-D1F87110ACF2}"/>
              </a:ext>
            </a:extLst>
          </p:cNvPr>
          <p:cNvSpPr>
            <a:spLocks noGrp="1"/>
          </p:cNvSpPr>
          <p:nvPr>
            <p:ph sz="quarter" idx="4"/>
          </p:nvPr>
        </p:nvSpPr>
        <p:spPr/>
        <p:txBody>
          <a:bodyPr>
            <a:normAutofit fontScale="92500"/>
          </a:bodyPr>
          <a:lstStyle/>
          <a:p>
            <a:r>
              <a:rPr lang="en-US" dirty="0"/>
              <a:t>We used several Large Language Models (LLMs) to get ideas on the different tools the seemed new to us for example the LaTeX report generator.</a:t>
            </a:r>
          </a:p>
          <a:p>
            <a:r>
              <a:rPr lang="en-US" dirty="0"/>
              <a:t>We used LLMs like Gemini, GitHub Copilot and others</a:t>
            </a:r>
            <a:endParaRPr lang="en-150" dirty="0"/>
          </a:p>
        </p:txBody>
      </p:sp>
    </p:spTree>
    <p:extLst>
      <p:ext uri="{BB962C8B-B14F-4D97-AF65-F5344CB8AC3E}">
        <p14:creationId xmlns:p14="http://schemas.microsoft.com/office/powerpoint/2010/main" val="61694626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6AA83-E5F0-1436-C624-7E67FFD637EA}"/>
              </a:ext>
            </a:extLst>
          </p:cNvPr>
          <p:cNvSpPr>
            <a:spLocks noGrp="1"/>
          </p:cNvSpPr>
          <p:nvPr>
            <p:ph type="title"/>
          </p:nvPr>
        </p:nvSpPr>
        <p:spPr/>
        <p:txBody>
          <a:bodyPr/>
          <a:lstStyle/>
          <a:p>
            <a:r>
              <a:rPr lang="en-US" dirty="0"/>
              <a:t>CONCULSION</a:t>
            </a:r>
            <a:endParaRPr lang="en-150" dirty="0"/>
          </a:p>
        </p:txBody>
      </p:sp>
      <p:sp>
        <p:nvSpPr>
          <p:cNvPr id="3" name="Content Placeholder 2">
            <a:extLst>
              <a:ext uri="{FF2B5EF4-FFF2-40B4-BE49-F238E27FC236}">
                <a16:creationId xmlns:a16="http://schemas.microsoft.com/office/drawing/2014/main" id="{17C79889-B685-C4C7-AA41-EE430FB02865}"/>
              </a:ext>
            </a:extLst>
          </p:cNvPr>
          <p:cNvSpPr>
            <a:spLocks noGrp="1"/>
          </p:cNvSpPr>
          <p:nvPr>
            <p:ph idx="1"/>
          </p:nvPr>
        </p:nvSpPr>
        <p:spPr/>
        <p:txBody>
          <a:bodyPr/>
          <a:lstStyle/>
          <a:p>
            <a:r>
              <a:rPr lang="en-US" dirty="0"/>
              <a:t>Programming is a key strategy in the business world as we have seen that the Booking system can be can be programmed and made available online rather that the physical appearance of customers hence saving time and resources while maximizing profits.</a:t>
            </a:r>
          </a:p>
          <a:p>
            <a:r>
              <a:rPr lang="en-US" dirty="0"/>
              <a:t>In the world of program, work can be made simpler and much more efficient with the help of different computing tools like GitHub and LLMs therefore saving time.</a:t>
            </a:r>
            <a:endParaRPr lang="en-150" dirty="0"/>
          </a:p>
          <a:p>
            <a:endParaRPr lang="en-150" dirty="0"/>
          </a:p>
        </p:txBody>
      </p:sp>
    </p:spTree>
    <p:extLst>
      <p:ext uri="{BB962C8B-B14F-4D97-AF65-F5344CB8AC3E}">
        <p14:creationId xmlns:p14="http://schemas.microsoft.com/office/powerpoint/2010/main" val="261517889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C310-F312-A75C-9635-C5EA84540FFF}"/>
              </a:ext>
            </a:extLst>
          </p:cNvPr>
          <p:cNvSpPr>
            <a:spLocks noGrp="1"/>
          </p:cNvSpPr>
          <p:nvPr>
            <p:ph type="title"/>
          </p:nvPr>
        </p:nvSpPr>
        <p:spPr>
          <a:xfrm>
            <a:off x="1033072" y="2493729"/>
            <a:ext cx="10515600" cy="1325563"/>
          </a:xfrm>
        </p:spPr>
        <p:txBody>
          <a:bodyPr/>
          <a:lstStyle/>
          <a:p>
            <a:r>
              <a:rPr lang="en-US" dirty="0"/>
              <a:t>THANK YOU FOR LISTENING</a:t>
            </a:r>
            <a:endParaRPr lang="en-150" dirty="0"/>
          </a:p>
        </p:txBody>
      </p:sp>
    </p:spTree>
    <p:extLst>
      <p:ext uri="{BB962C8B-B14F-4D97-AF65-F5344CB8AC3E}">
        <p14:creationId xmlns:p14="http://schemas.microsoft.com/office/powerpoint/2010/main" val="230667250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35</TotalTime>
  <Words>773</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Times New Roman</vt:lpstr>
      <vt:lpstr>Tw Cen MT</vt:lpstr>
      <vt:lpstr>Circuit</vt:lpstr>
      <vt:lpstr>CINEMA TICKET BOOKING SYSTEM PROGAM</vt:lpstr>
      <vt:lpstr>GROUP MEMBERS</vt:lpstr>
      <vt:lpstr>INTRODUCTION</vt:lpstr>
      <vt:lpstr>THE PROGRAM.</vt:lpstr>
      <vt:lpstr>EXPLANATION DIFFERNENT TECHNIQUES.</vt:lpstr>
      <vt:lpstr>Continued Explanation.</vt:lpstr>
      <vt:lpstr>Continuation</vt:lpstr>
      <vt:lpstr>THE TECHNICAL REPORT.</vt:lpstr>
      <vt:lpstr>GITHUB AND LLMs</vt:lpstr>
      <vt:lpstr>CONCULSION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OKABO GEORGE EMMUNA</dc:creator>
  <cp:lastModifiedBy>OKABO GEORGE EMMUNA</cp:lastModifiedBy>
  <cp:revision>1</cp:revision>
  <dcterms:created xsi:type="dcterms:W3CDTF">2026-05-27T11:28:32Z</dcterms:created>
  <dcterms:modified xsi:type="dcterms:W3CDTF">2026-05-27T12:04:06Z</dcterms:modified>
</cp:coreProperties>
</file>